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5DEED373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0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706807-3D3E-7F5E-E398-C4DED286E666}" name="sourabh.gawade2026@outlook.com" initials="s" userId="c3880d75b4db3ca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47" autoAdjust="0"/>
    <p:restoredTop sz="94660"/>
  </p:normalViewPr>
  <p:slideViewPr>
    <p:cSldViewPr snapToGrid="0">
      <p:cViewPr varScale="1">
        <p:scale>
          <a:sx n="70" d="100"/>
          <a:sy n="70" d="100"/>
        </p:scale>
        <p:origin x="3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modernComment_102_5DEED3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9EA4FE8-EAFD-4655-A051-106E2D4781F2}" authorId="{F5706807-3D3E-7F5E-E398-C4DED286E666}" created="2026-10-11T15:11:17.4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75932787" sldId="258"/>
      <ac:spMk id="7" creationId="{CE5FD585-E52E-9169-8D56-B2E23EBE76C1}"/>
    </ac:deMkLst>
    <p188:txBody>
      <a:bodyPr/>
      <a:lstStyle/>
      <a:p>
        <a:r>
          <a:rPr lang="en-IN"/>
          <a:t>dggh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48ED-B80C-BF11-8ED1-4FD3C4CA1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EC52B-6214-830D-1647-32E0ADDB0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39B45-D36B-E893-097C-A5C3E50F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AB07A-C5E9-55D6-C601-1B01211D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439CB-9FA0-1EA0-A9E2-E7E5BAFB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3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B4138-1084-F8E4-2886-7EC232D9C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4923D-9A16-02F5-A87F-DEF4FA989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F0A0A-9C81-3BE0-E9F9-8CA0E71A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082FE-05CC-2600-717E-39E1CA77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031C6-399A-CDB1-3BBD-3AF49DA5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428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56255-4770-0FA1-2991-8465A7CAF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74823-AFE8-674A-4E67-615A12C9E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E8EA9-F237-9FE3-EEEB-AFB4E854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6BB8D-7F25-26EF-D8CB-9C836BB6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7BDCB-E922-FB9C-BDA1-6625BC42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94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E8DC5-B8EC-1AEA-F309-907C3A216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9422C-AD4B-7CC0-84AE-28CA1DF4A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EDC03-F0B2-CB3B-97B7-1DCDA56A1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F62A8-CE2C-A411-9C81-B14FB5CE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C7FB9-10DA-F47C-EDFD-8E71901A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2D58F-BC35-C25D-D301-8FDC7E8C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8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85FDC-D1B8-C1F2-4F2F-8C546267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68DB0-AEFA-926E-6FEC-5F971239B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12B41-5688-BE97-BF70-D7B72C024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A236D-5341-EA16-2DB2-9FAD05467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A56DB-7FAA-683D-4046-2964E17E2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A3958F-ABD4-697E-B00F-185C9D31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7960DD-5166-60D8-EA38-9F96DF63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DA2A7-0DDA-99FB-1EE4-8B9E5EBA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330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F7A1-6331-77E3-3420-E78DAD81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0425D-2158-BE18-A5CA-CB9D4F96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FBE18-E9FA-D94A-AD59-21C368C1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1FC31-FDBD-0E4A-AF13-EE29F12F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59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34B82-9302-7B03-5E1B-1F20A92D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EAE165-166D-6435-AF4D-DCF2234F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2522F-CDBF-46D1-D999-4A2B9D49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259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CF40-A02C-6308-1DD1-C1FA65BFD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CA2DC-45F4-6265-7B38-40E2481C1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12B5D-E617-B9F8-6B88-CF6CB52CE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F114C-8F88-04C0-9D3C-D7BEABD8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49B38-2026-516F-06CC-42B100B4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19868-C55C-84EB-BA72-21616026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55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C956-2205-C4E1-E76F-0EA236B5E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E40F0-5D93-7516-4EAE-85AFF40A85F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B8EE5-9B94-3CCE-9399-57FC2C973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4BDF6-E760-C055-1940-2B68359A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2770E-C184-28FE-3E5B-F6306A40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AFD09-C306-6C95-4F37-9D998393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44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610F-0DC0-BB69-7587-4F9AD7E4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6F9CB-AA36-BD70-D43E-DC00A2070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44532-F1C6-B22A-A0F1-3F4CCFF6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9C04A-77FB-C795-E687-65E331D1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038D3-BF84-2A5E-D86E-17C053B5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13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0569-D690-6A3B-16BB-4E1DD9964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A8E8A-EB4E-9DFB-18FA-5323C9AB0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4726C-1761-4185-4088-B6FFC661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D2710-40F4-9F9B-7AB9-E260371B0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4B65C-A809-BE5D-7631-0183A4CE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86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61AED-5452-62C6-9330-8F89490A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A2BBF-E172-6350-95F9-698A9CEDB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7C593-24EE-1FA0-C8A6-5DF383590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B7273-A2EE-424E-A19E-CE3E419E3D1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A29CD-6553-D302-2DC2-C93E8817E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2FF22-5912-3342-EA35-8E20C6CEA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9C81B-EF2D-4A00-BA4E-DDC6D8C7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99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5DEED373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567483-EFED-BCDB-6787-A19640A5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  <a:gradFill>
            <a:gsLst>
              <a:gs pos="0">
                <a:schemeClr val="accent1">
                  <a:lumMod val="50000"/>
                </a:schemeClr>
              </a:gs>
              <a:gs pos="55000">
                <a:schemeClr val="tx2">
                  <a:lumMod val="75000"/>
                  <a:lumOff val="25000"/>
                </a:schemeClr>
              </a:gs>
              <a:gs pos="40000">
                <a:schemeClr val="tx2">
                  <a:lumMod val="75000"/>
                  <a:lumOff val="25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marR="0">
              <a:spcAft>
                <a:spcPts val="1800"/>
              </a:spcAft>
            </a:pPr>
            <a:br>
              <a:rPr lang="en-IN" sz="3200" b="1" i="0" cap="all" spc="75" dirty="0">
                <a:solidFill>
                  <a:srgbClr val="F59E0B"/>
                </a:solidFill>
                <a:effectLst/>
                <a:latin typeface="Plus Jakarta Sans"/>
              </a:rPr>
            </a:br>
            <a:r>
              <a:rPr lang="en-IN" sz="3200" b="1" i="0" cap="all" spc="75" dirty="0">
                <a:solidFill>
                  <a:srgbClr val="F59E0B"/>
                </a:solidFill>
                <a:effectLst/>
                <a:latin typeface="Plus Jakarta Sans"/>
              </a:rPr>
              <a:t>Python &amp; Pandas Analytics Report</a:t>
            </a:r>
            <a:br>
              <a:rPr lang="en-IN" sz="3200" b="1" i="0" cap="all" spc="75" dirty="0">
                <a:solidFill>
                  <a:srgbClr val="F59E0B"/>
                </a:solidFill>
                <a:effectLst/>
                <a:latin typeface="Plus Jakarta Sans"/>
              </a:rPr>
            </a:br>
            <a:r>
              <a:rPr lang="en-IN" sz="3200" b="1" i="0" dirty="0">
                <a:solidFill>
                  <a:schemeClr val="bg1"/>
                </a:solidFill>
                <a:effectLst/>
                <a:latin typeface="Plus Jakarta Sans"/>
              </a:rPr>
              <a:t>Diwali Sales, Customer &amp; Revenue Analytics</a:t>
            </a:r>
            <a:br>
              <a:rPr lang="en-IN" sz="3200" b="1" i="0" dirty="0">
                <a:solidFill>
                  <a:schemeClr val="bg1"/>
                </a:solidFill>
                <a:effectLst/>
                <a:latin typeface="Plus Jakarta Sans"/>
              </a:rPr>
            </a:br>
            <a:r>
              <a:rPr lang="en-IN" sz="3200" b="0" i="0" dirty="0">
                <a:solidFill>
                  <a:schemeClr val="bg1"/>
                </a:solidFill>
                <a:effectLst/>
                <a:latin typeface="Plus Jakarta Sans"/>
              </a:rPr>
              <a:t>Customer segments</a:t>
            </a:r>
            <a:br>
              <a:rPr lang="en-IN" sz="3200" b="0" i="0" dirty="0">
                <a:solidFill>
                  <a:schemeClr val="bg1"/>
                </a:solidFill>
                <a:effectLst/>
                <a:latin typeface="Plus Jakarta Sans"/>
              </a:rPr>
            </a:br>
            <a:r>
              <a:rPr lang="en-IN" sz="3200" b="0" i="0" dirty="0">
                <a:solidFill>
                  <a:schemeClr val="bg1"/>
                </a:solidFill>
                <a:effectLst/>
                <a:latin typeface="Plus Jakarta Sans"/>
              </a:rPr>
              <a:t> • Regional performance </a:t>
            </a:r>
            <a:br>
              <a:rPr lang="en-IN" sz="3200" b="0" i="0" dirty="0">
                <a:solidFill>
                  <a:schemeClr val="bg1"/>
                </a:solidFill>
                <a:effectLst/>
                <a:latin typeface="Plus Jakarta Sans"/>
              </a:rPr>
            </a:br>
            <a:r>
              <a:rPr lang="en-IN" sz="3200" b="0" i="0" dirty="0">
                <a:solidFill>
                  <a:schemeClr val="bg1"/>
                </a:solidFill>
                <a:effectLst/>
                <a:latin typeface="Plus Jakarta Sans"/>
              </a:rPr>
              <a:t> • Product demand</a:t>
            </a:r>
            <a:br>
              <a:rPr lang="en-IN" sz="3200" dirty="0">
                <a:solidFill>
                  <a:schemeClr val="bg1"/>
                </a:solidFill>
                <a:latin typeface="Plus Jakarta Sans"/>
              </a:rPr>
            </a:br>
            <a:r>
              <a:rPr lang="en-IN" sz="3200" b="0" i="0" dirty="0">
                <a:solidFill>
                  <a:schemeClr val="bg1"/>
                </a:solidFill>
                <a:effectLst/>
                <a:latin typeface="Plus Jakarta Sans"/>
              </a:rPr>
              <a:t> • Commercial opportunities</a:t>
            </a:r>
            <a:br>
              <a:rPr lang="en-IN" sz="3200" b="0" i="0" dirty="0">
                <a:solidFill>
                  <a:schemeClr val="bg1"/>
                </a:solidFill>
                <a:effectLst/>
                <a:latin typeface="Plus Jakarta Sans"/>
              </a:rPr>
            </a:br>
            <a:br>
              <a:rPr lang="en-IN" sz="3200" dirty="0">
                <a:solidFill>
                  <a:schemeClr val="bg1"/>
                </a:solidFill>
              </a:rPr>
            </a:b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675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5FD585-E52E-9169-8D56-B2E23EBE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77668"/>
            <a:ext cx="12192000" cy="27699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Sales 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60EBC3-5763-712F-6D27-6A22941A2140}"/>
              </a:ext>
            </a:extLst>
          </p:cNvPr>
          <p:cNvSpPr txBox="1"/>
          <p:nvPr/>
        </p:nvSpPr>
        <p:spPr>
          <a:xfrm>
            <a:off x="38022" y="1216167"/>
            <a:ext cx="6224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Core performance metrics from 11,251 dataset transaction records</a:t>
            </a:r>
            <a:endParaRPr lang="en-IN" dirty="0"/>
          </a:p>
        </p:txBody>
      </p:sp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90E94760-0DCE-F99B-E150-D411BE0DB7A5}"/>
              </a:ext>
            </a:extLst>
          </p:cNvPr>
          <p:cNvSpPr/>
          <p:nvPr/>
        </p:nvSpPr>
        <p:spPr>
          <a:xfrm>
            <a:off x="609600" y="3114675"/>
            <a:ext cx="257175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5B84904C-51E2-8F9D-4AB9-E2C7C5A718DD}"/>
              </a:ext>
            </a:extLst>
          </p:cNvPr>
          <p:cNvSpPr/>
          <p:nvPr/>
        </p:nvSpPr>
        <p:spPr>
          <a:xfrm>
            <a:off x="3409950" y="3114675"/>
            <a:ext cx="257175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B582441D-C178-A8FF-0842-8B3A03F6266B}"/>
              </a:ext>
            </a:extLst>
          </p:cNvPr>
          <p:cNvSpPr/>
          <p:nvPr/>
        </p:nvSpPr>
        <p:spPr>
          <a:xfrm>
            <a:off x="6210300" y="3114675"/>
            <a:ext cx="257175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4">
            <a:extLst>
              <a:ext uri="{FF2B5EF4-FFF2-40B4-BE49-F238E27FC236}">
                <a16:creationId xmlns:a16="http://schemas.microsoft.com/office/drawing/2014/main" id="{23CC1A31-2AD9-1463-CCE7-2CB802237812}"/>
              </a:ext>
            </a:extLst>
          </p:cNvPr>
          <p:cNvSpPr/>
          <p:nvPr/>
        </p:nvSpPr>
        <p:spPr>
          <a:xfrm>
            <a:off x="9010650" y="3114675"/>
            <a:ext cx="257175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191843-1836-655E-D91A-0D6DCF81E40D}"/>
              </a:ext>
            </a:extLst>
          </p:cNvPr>
          <p:cNvSpPr txBox="1"/>
          <p:nvPr/>
        </p:nvSpPr>
        <p:spPr>
          <a:xfrm>
            <a:off x="847725" y="3848100"/>
            <a:ext cx="26193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300" b="1" i="0" u="none">
                <a:solidFill>
                  <a:srgbClr val="0F172A"/>
                </a:solidFill>
                <a:latin typeface="Plus Jakarta Sans"/>
              </a:rPr>
              <a:t>₹10.62 Cr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FE408C-EE3B-059E-3FAA-FB627BADA666}"/>
              </a:ext>
            </a:extLst>
          </p:cNvPr>
          <p:cNvSpPr txBox="1"/>
          <p:nvPr/>
        </p:nvSpPr>
        <p:spPr>
          <a:xfrm>
            <a:off x="847725" y="4343400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Total Revenue Generated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BCBBD9-F1BD-1ECE-667C-C18623C5F693}"/>
              </a:ext>
            </a:extLst>
          </p:cNvPr>
          <p:cNvSpPr txBox="1"/>
          <p:nvPr/>
        </p:nvSpPr>
        <p:spPr>
          <a:xfrm>
            <a:off x="3648075" y="3848100"/>
            <a:ext cx="26193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300" b="1" i="0" u="none">
                <a:solidFill>
                  <a:srgbClr val="0F172A"/>
                </a:solidFill>
                <a:latin typeface="Plus Jakarta Sans"/>
              </a:rPr>
              <a:t>3,755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A51502-5FE6-8157-CC06-A7A2010B414E}"/>
              </a:ext>
            </a:extLst>
          </p:cNvPr>
          <p:cNvSpPr txBox="1"/>
          <p:nvPr/>
        </p:nvSpPr>
        <p:spPr>
          <a:xfrm>
            <a:off x="3648075" y="4343400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Unique Customers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D3FCC2-0C28-ACF5-D6C5-5D80DC79CB58}"/>
              </a:ext>
            </a:extLst>
          </p:cNvPr>
          <p:cNvSpPr txBox="1"/>
          <p:nvPr/>
        </p:nvSpPr>
        <p:spPr>
          <a:xfrm>
            <a:off x="6448425" y="3848100"/>
            <a:ext cx="26193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300" b="1" i="0" u="none">
                <a:solidFill>
                  <a:srgbClr val="0F172A"/>
                </a:solidFill>
                <a:latin typeface="Plus Jakarta Sans"/>
              </a:rPr>
              <a:t>28,007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05081A-DEB6-6A81-471B-4C46ECB41C71}"/>
              </a:ext>
            </a:extLst>
          </p:cNvPr>
          <p:cNvSpPr txBox="1"/>
          <p:nvPr/>
        </p:nvSpPr>
        <p:spPr>
          <a:xfrm>
            <a:off x="6448425" y="4343400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Total Order Quantity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681B46-D964-0A08-1E52-F73942BFDE47}"/>
              </a:ext>
            </a:extLst>
          </p:cNvPr>
          <p:cNvSpPr txBox="1"/>
          <p:nvPr/>
        </p:nvSpPr>
        <p:spPr>
          <a:xfrm>
            <a:off x="9248775" y="3848100"/>
            <a:ext cx="2619375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300" b="1" i="0" u="none">
                <a:solidFill>
                  <a:srgbClr val="0F172A"/>
                </a:solidFill>
                <a:latin typeface="Plus Jakarta Sans"/>
              </a:rPr>
              <a:t>35.4 yrs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3EB879-B914-09C7-40CD-8E6E0F02AB25}"/>
              </a:ext>
            </a:extLst>
          </p:cNvPr>
          <p:cNvSpPr txBox="1"/>
          <p:nvPr/>
        </p:nvSpPr>
        <p:spPr>
          <a:xfrm>
            <a:off x="9248775" y="4343400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Average Customer Age</a:t>
            </a:r>
          </a:p>
        </p:txBody>
      </p:sp>
    </p:spTree>
    <p:extLst>
      <p:ext uri="{BB962C8B-B14F-4D97-AF65-F5344CB8AC3E}">
        <p14:creationId xmlns:p14="http://schemas.microsoft.com/office/powerpoint/2010/main" val="15759327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A4D35-9E49-61D2-0DC0-D4B16BED5992}"/>
              </a:ext>
            </a:extLst>
          </p:cNvPr>
          <p:cNvSpPr txBox="1"/>
          <p:nvPr/>
        </p:nvSpPr>
        <p:spPr>
          <a:xfrm>
            <a:off x="0" y="0"/>
            <a:ext cx="7412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contribuites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sales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77CAC4-551F-DE44-6ADB-4545BD8101A5}"/>
              </a:ext>
            </a:extLst>
          </p:cNvPr>
          <p:cNvSpPr/>
          <p:nvPr/>
        </p:nvSpPr>
        <p:spPr>
          <a:xfrm>
            <a:off x="609600" y="2871785"/>
            <a:ext cx="4494014" cy="971551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A4D641D2-A215-270C-7710-7E58BA1E11B2}"/>
              </a:ext>
            </a:extLst>
          </p:cNvPr>
          <p:cNvSpPr/>
          <p:nvPr/>
        </p:nvSpPr>
        <p:spPr>
          <a:xfrm>
            <a:off x="609600" y="4271962"/>
            <a:ext cx="4494014" cy="1171575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FE0B11-1E96-4482-9DF3-28B492095759}"/>
              </a:ext>
            </a:extLst>
          </p:cNvPr>
          <p:cNvSpPr/>
          <p:nvPr/>
        </p:nvSpPr>
        <p:spPr>
          <a:xfrm>
            <a:off x="609600" y="2871787"/>
            <a:ext cx="38100" cy="971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32CD40-CDF7-2563-3066-884BB64012AE}"/>
              </a:ext>
            </a:extLst>
          </p:cNvPr>
          <p:cNvSpPr txBox="1"/>
          <p:nvPr/>
        </p:nvSpPr>
        <p:spPr>
          <a:xfrm>
            <a:off x="136896" y="745269"/>
            <a:ext cx="727558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64748B"/>
                </a:solidFill>
                <a:latin typeface="Plus Jakarta Sans"/>
              </a:rPr>
              <a:t>Female customers account for 70% of total revenue and order volume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66C434-8360-46A3-A5C0-726F63A2FCC4}"/>
              </a:ext>
            </a:extLst>
          </p:cNvPr>
          <p:cNvSpPr txBox="1"/>
          <p:nvPr/>
        </p:nvSpPr>
        <p:spPr>
          <a:xfrm>
            <a:off x="876300" y="3100387"/>
            <a:ext cx="52483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Female Dominance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B8F5DD-6509-90AE-BEF5-4179B16CC7F6}"/>
              </a:ext>
            </a:extLst>
          </p:cNvPr>
          <p:cNvSpPr txBox="1"/>
          <p:nvPr/>
        </p:nvSpPr>
        <p:spPr>
          <a:xfrm>
            <a:off x="876300" y="3414712"/>
            <a:ext cx="499839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₹7.43 Cr revenue share with 19,568 orders.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02ABAB-A422-DAFF-C3B3-5DF9A110A1EA}"/>
              </a:ext>
            </a:extLst>
          </p:cNvPr>
          <p:cNvSpPr txBox="1"/>
          <p:nvPr/>
        </p:nvSpPr>
        <p:spPr>
          <a:xfrm>
            <a:off x="847725" y="4271962"/>
            <a:ext cx="527331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Male Contribution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87BC81-AF5A-8C5D-DFC5-8FDB9655D033}"/>
              </a:ext>
            </a:extLst>
          </p:cNvPr>
          <p:cNvSpPr txBox="1"/>
          <p:nvPr/>
        </p:nvSpPr>
        <p:spPr>
          <a:xfrm>
            <a:off x="847725" y="4586287"/>
            <a:ext cx="50222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₹3.19 Cr revenue share across remaining order volume.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3147F3-EDDA-4C12-7CD3-27D21521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165" y="1321235"/>
            <a:ext cx="5065786" cy="539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1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3CD172-F509-9CD3-F5F0-9B9F3D560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27" y="2832100"/>
            <a:ext cx="5383212" cy="1446213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Female (F)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19,548 orders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(accounting for roughly 69.8% of the total order volume) </a:t>
            </a:r>
            <a:endParaRPr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2ED0577A-555C-8943-D9D1-E06D99A4E526}"/>
              </a:ext>
            </a:extLst>
          </p:cNvPr>
          <p:cNvSpPr/>
          <p:nvPr/>
        </p:nvSpPr>
        <p:spPr>
          <a:xfrm>
            <a:off x="166688" y="4675376"/>
            <a:ext cx="5383212" cy="135413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Male (M)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8,433 orders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(accounting for roughly 30.2% of the total order volume) 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C68628-577B-5B86-B9FC-3FFECEF95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900" y="828486"/>
            <a:ext cx="6334773" cy="60295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AE4C94-065D-687C-FC77-5211A45F3F94}"/>
              </a:ext>
            </a:extLst>
          </p:cNvPr>
          <p:cNvSpPr txBox="1"/>
          <p:nvPr/>
        </p:nvSpPr>
        <p:spPr>
          <a:xfrm>
            <a:off x="0" y="0"/>
            <a:ext cx="6286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Volume Breakdown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FB2C4-C0BA-5DF4-0790-7AF9D6F38279}"/>
              </a:ext>
            </a:extLst>
          </p:cNvPr>
          <p:cNvSpPr txBox="1"/>
          <p:nvPr/>
        </p:nvSpPr>
        <p:spPr>
          <a:xfrm>
            <a:off x="123216" y="347375"/>
            <a:ext cx="799208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Female Buyers Place the Most Orders (70% of Total Volume)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87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3C811-306B-AA58-B555-5584D6F0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1"/>
            <a:ext cx="10515600" cy="5715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Diwali Sales Analysis &amp; Customer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3A428-1816-B0CD-E71A-3CDDE2D7DD89}"/>
              </a:ext>
            </a:extLst>
          </p:cNvPr>
          <p:cNvSpPr txBox="1"/>
          <p:nvPr/>
        </p:nvSpPr>
        <p:spPr>
          <a:xfrm>
            <a:off x="0" y="203202"/>
            <a:ext cx="83663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r>
              <a:rPr lang="en-US" sz="2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26–35 age group represents the core purchasing Demographic</a:t>
            </a:r>
          </a:p>
          <a:p>
            <a:r>
              <a:rPr lang="en-IN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09486C-09DB-E5C8-6A85-189B45DE265C}"/>
              </a:ext>
            </a:extLst>
          </p:cNvPr>
          <p:cNvSpPr/>
          <p:nvPr/>
        </p:nvSpPr>
        <p:spPr>
          <a:xfrm>
            <a:off x="609600" y="2654301"/>
            <a:ext cx="4699000" cy="15748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 Breakdown: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Female customers 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contribute significantly more to total sales more than double the amount spent by male buyers. Women serve as the primary decision-makers for festive shopping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82E8C7F9-F141-F15E-CDDC-BB54D492F359}"/>
              </a:ext>
            </a:extLst>
          </p:cNvPr>
          <p:cNvSpPr/>
          <p:nvPr/>
        </p:nvSpPr>
        <p:spPr>
          <a:xfrm>
            <a:off x="609600" y="4919662"/>
            <a:ext cx="4699000" cy="148113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Group: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26–35 age group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generates the highest revenue, driven primarily by working professionals and young earners with disposable income. The next highest-spending groups are ages 36–45 and 18–25</a:t>
            </a:r>
            <a:r>
              <a:rPr lang="en-IN" dirty="0">
                <a:solidFill>
                  <a:schemeClr val="tx1"/>
                </a:solidFill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03F2A8-41F7-C700-1067-5D0E803ED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232" y="1218865"/>
            <a:ext cx="6522643" cy="563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91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DE22-7211-3A20-9575-737A8728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8588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Customer Age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2E684-27E5-3DFC-8899-12BCAE54C6F5}"/>
              </a:ext>
            </a:extLst>
          </p:cNvPr>
          <p:cNvSpPr txBox="1"/>
          <p:nvPr/>
        </p:nvSpPr>
        <p:spPr>
          <a:xfrm>
            <a:off x="0" y="661193"/>
            <a:ext cx="7299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Segmentation and Revenue Generation in Festive Sales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94D3F-0787-8242-68F9-F6DD03D27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96975"/>
            <a:ext cx="5664200" cy="56610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0426E8-4C28-6944-190C-47761250D627}"/>
              </a:ext>
            </a:extLst>
          </p:cNvPr>
          <p:cNvSpPr/>
          <p:nvPr/>
        </p:nvSpPr>
        <p:spPr>
          <a:xfrm>
            <a:off x="311150" y="1670447"/>
            <a:ext cx="5778500" cy="1493377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the Diwali Sales , the exact </a:t>
            </a: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average(mean) customer age is approximately 35.4 years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(specifically </a:t>
            </a: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35.41 years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5073D0EF-9CE6-4821-770A-997870AEE081}"/>
              </a:ext>
            </a:extLst>
          </p:cNvPr>
          <p:cNvSpPr/>
          <p:nvPr/>
        </p:nvSpPr>
        <p:spPr>
          <a:xfrm>
            <a:off x="311150" y="3637296"/>
            <a:ext cx="5956300" cy="2692400"/>
          </a:xfrm>
          <a:prstGeom prst="roundRect">
            <a:avLst>
              <a:gd name="adj" fmla="val 81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400" b="1" dirty="0">
                <a:solidFill>
                  <a:schemeClr val="tx1"/>
                </a:solidFill>
              </a:rPr>
              <a:t>Female Buyers:</a:t>
            </a:r>
            <a:r>
              <a:rPr lang="en-IN" sz="1400" dirty="0">
                <a:solidFill>
                  <a:schemeClr val="tx1"/>
                </a:solidFill>
              </a:rPr>
              <a:t> Women represent the largest share of the customer base (contributing over double the total revenue of male buyers). The majority of these female shoppers fall within the </a:t>
            </a:r>
            <a:r>
              <a:rPr lang="en-IN" sz="1400" b="1" dirty="0">
                <a:solidFill>
                  <a:schemeClr val="tx1"/>
                </a:solidFill>
              </a:rPr>
              <a:t>26–35 age bracket</a:t>
            </a:r>
            <a:r>
              <a:rPr lang="en-IN" sz="1400" dirty="0">
                <a:solidFill>
                  <a:schemeClr val="tx1"/>
                </a:solidFill>
              </a:rPr>
              <a:t>, which serves as the primary revenue-driving segment for the entire dataset.</a:t>
            </a:r>
          </a:p>
          <a:p>
            <a:pPr lvl="0"/>
            <a:endParaRPr lang="en-IN" sz="1400" b="1" dirty="0">
              <a:solidFill>
                <a:schemeClr val="tx1"/>
              </a:solidFill>
            </a:endParaRPr>
          </a:p>
          <a:p>
            <a:pPr lvl="0"/>
            <a:r>
              <a:rPr lang="en-IN" sz="1400" b="1" dirty="0">
                <a:solidFill>
                  <a:schemeClr val="tx1"/>
                </a:solidFill>
              </a:rPr>
              <a:t>Male Buyers:</a:t>
            </a:r>
            <a:r>
              <a:rPr lang="en-IN" sz="1400" dirty="0">
                <a:solidFill>
                  <a:schemeClr val="tx1"/>
                </a:solidFill>
              </a:rPr>
              <a:t> While men account for a smaller volume of orders compared to women, their spending patterns also peak prominently within the </a:t>
            </a:r>
            <a:r>
              <a:rPr lang="en-IN" sz="1400" b="1" dirty="0">
                <a:solidFill>
                  <a:schemeClr val="tx1"/>
                </a:solidFill>
              </a:rPr>
              <a:t>26–35 age group</a:t>
            </a:r>
            <a:r>
              <a:rPr lang="en-IN" sz="1400" dirty="0">
                <a:solidFill>
                  <a:schemeClr val="tx1"/>
                </a:solidFill>
              </a:rPr>
              <a:t>, followed closely by the 36–45 demographic.</a:t>
            </a:r>
          </a:p>
        </p:txBody>
      </p:sp>
    </p:spTree>
    <p:extLst>
      <p:ext uri="{BB962C8B-B14F-4D97-AF65-F5344CB8AC3E}">
        <p14:creationId xmlns:p14="http://schemas.microsoft.com/office/powerpoint/2010/main" val="1486845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5928B-B219-81C8-B4EF-4990FEB8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461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Customer Age Group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72C8F3-4823-AB81-75DF-053CAEBC50E6}"/>
              </a:ext>
            </a:extLst>
          </p:cNvPr>
          <p:cNvSpPr/>
          <p:nvPr/>
        </p:nvSpPr>
        <p:spPr>
          <a:xfrm>
            <a:off x="203200" y="2084832"/>
            <a:ext cx="5511800" cy="4105656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Largest Customer Segment: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26–35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bracket has the highest frequency and count of buyers compared to any other age group (such as 18–25, 36–45, etc.).</a:t>
            </a:r>
          </a:p>
          <a:p>
            <a:pPr lvl="0"/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Revenue Driver: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it houses the largest number of active shoppers, this age group also generates the highest overall revenue for the festive season.</a:t>
            </a:r>
          </a:p>
          <a:p>
            <a:pPr lvl="0"/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Context: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group primarily consists of young working professionals and earners who drive the bulk of festive purchasing power across both male and female buyers.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F3EC5-D96B-961E-778C-CE8722939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906" y="1214892"/>
            <a:ext cx="6088894" cy="56431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7DB03E-BB40-416C-40B1-27CAE00B9D7F}"/>
              </a:ext>
            </a:extLst>
          </p:cNvPr>
          <p:cNvSpPr txBox="1"/>
          <p:nvPr/>
        </p:nvSpPr>
        <p:spPr>
          <a:xfrm>
            <a:off x="101600" y="346046"/>
            <a:ext cx="436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26–35: Age Group with Most Customers</a:t>
            </a:r>
          </a:p>
        </p:txBody>
      </p:sp>
    </p:spTree>
    <p:extLst>
      <p:ext uri="{BB962C8B-B14F-4D97-AF65-F5344CB8AC3E}">
        <p14:creationId xmlns:p14="http://schemas.microsoft.com/office/powerpoint/2010/main" val="398861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F834F068-D505-802E-25E1-DCC180786E9D}"/>
              </a:ext>
            </a:extLst>
          </p:cNvPr>
          <p:cNvSpPr/>
          <p:nvPr/>
        </p:nvSpPr>
        <p:spPr>
          <a:xfrm>
            <a:off x="5823284" y="2496426"/>
            <a:ext cx="5309936" cy="1770773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F1523D2A-88E4-5767-E40E-6ECB54B9226B}"/>
              </a:ext>
            </a:extLst>
          </p:cNvPr>
          <p:cNvSpPr/>
          <p:nvPr/>
        </p:nvSpPr>
        <p:spPr>
          <a:xfrm>
            <a:off x="6096000" y="4815419"/>
            <a:ext cx="5309936" cy="1770772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223CC2-FA3D-B8E9-16BD-925A160B2AA3}"/>
              </a:ext>
            </a:extLst>
          </p:cNvPr>
          <p:cNvSpPr txBox="1"/>
          <p:nvPr/>
        </p:nvSpPr>
        <p:spPr>
          <a:xfrm>
            <a:off x="304800" y="148026"/>
            <a:ext cx="307840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Marital Status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9D526B-4069-70CF-2E26-038363E3D801}"/>
              </a:ext>
            </a:extLst>
          </p:cNvPr>
          <p:cNvSpPr txBox="1"/>
          <p:nvPr/>
        </p:nvSpPr>
        <p:spPr>
          <a:xfrm>
            <a:off x="192505" y="517358"/>
            <a:ext cx="1169469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Unmarried buyers constitute the majority share of transactions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06FDC1-1E07-BE8D-3572-ECAC48ADB5D4}"/>
              </a:ext>
            </a:extLst>
          </p:cNvPr>
          <p:cNvSpPr txBox="1"/>
          <p:nvPr/>
        </p:nvSpPr>
        <p:spPr>
          <a:xfrm>
            <a:off x="6600117" y="2661372"/>
            <a:ext cx="257314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E3A8A"/>
                </a:solidFill>
                <a:latin typeface="Plus Jakarta Sans"/>
              </a:rPr>
              <a:t>Unmarried Segment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3AF797-904C-0622-1E9F-F6AFD97037F3}"/>
              </a:ext>
            </a:extLst>
          </p:cNvPr>
          <p:cNvSpPr txBox="1"/>
          <p:nvPr/>
        </p:nvSpPr>
        <p:spPr>
          <a:xfrm>
            <a:off x="6969769" y="3068804"/>
            <a:ext cx="1181414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₹</a:t>
            </a:r>
            <a:r>
              <a:rPr lang="en-US" sz="2800" b="1" i="0" u="none" dirty="0">
                <a:solidFill>
                  <a:srgbClr val="0F172A"/>
                </a:solidFill>
                <a:latin typeface="Plus Jakarta Sans"/>
              </a:rPr>
              <a:t>58</a:t>
            </a:r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.</a:t>
            </a:r>
            <a:r>
              <a:rPr lang="en-US" sz="2800" b="1" i="0" u="none" dirty="0">
                <a:solidFill>
                  <a:srgbClr val="0F172A"/>
                </a:solidFill>
                <a:latin typeface="Plus Jakarta Sans"/>
              </a:rPr>
              <a:t>5</a:t>
            </a:r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 Cr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207378-DA0E-FDB8-3F1C-ACE1D462E3AC}"/>
              </a:ext>
            </a:extLst>
          </p:cNvPr>
          <p:cNvSpPr txBox="1"/>
          <p:nvPr/>
        </p:nvSpPr>
        <p:spPr>
          <a:xfrm>
            <a:off x="6488506" y="3475716"/>
            <a:ext cx="4241482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64748B"/>
                </a:solidFill>
                <a:latin typeface="Plus Jakarta Sans"/>
              </a:rPr>
              <a:t>Higher propensity for self-use gadgets &amp; </a:t>
            </a:r>
            <a:endParaRPr lang="en-US" sz="2000" b="0" i="0" u="none" dirty="0">
              <a:solidFill>
                <a:srgbClr val="64748B"/>
              </a:solidFill>
              <a:latin typeface="Plus Jakarta Sans"/>
            </a:endParaRPr>
          </a:p>
          <a:p>
            <a:pPr algn="l"/>
            <a:r>
              <a:rPr sz="2000" b="0" i="0" u="none" dirty="0">
                <a:solidFill>
                  <a:srgbClr val="64748B"/>
                </a:solidFill>
                <a:latin typeface="Plus Jakarta Sans"/>
              </a:rPr>
              <a:t>lifestyle goods.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4D2D99-6940-D128-1354-5EA1C7A83991}"/>
              </a:ext>
            </a:extLst>
          </p:cNvPr>
          <p:cNvSpPr txBox="1"/>
          <p:nvPr/>
        </p:nvSpPr>
        <p:spPr>
          <a:xfrm>
            <a:off x="6434351" y="4922337"/>
            <a:ext cx="454777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E3A8A"/>
                </a:solidFill>
                <a:latin typeface="Plus Jakarta Sans"/>
              </a:rPr>
              <a:t>Married Segment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555C0D-1D24-3A42-9F2A-FD2AF096DB61}"/>
              </a:ext>
            </a:extLst>
          </p:cNvPr>
          <p:cNvSpPr txBox="1"/>
          <p:nvPr/>
        </p:nvSpPr>
        <p:spPr>
          <a:xfrm>
            <a:off x="6488506" y="5291669"/>
            <a:ext cx="1181414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1D4ED8"/>
                </a:solidFill>
                <a:latin typeface="Plus Jakarta Sans"/>
              </a:rPr>
              <a:t>₹</a:t>
            </a:r>
            <a:r>
              <a:rPr sz="2800" b="1" i="0" u="none" dirty="0">
                <a:solidFill>
                  <a:srgbClr val="1D4ED8"/>
                </a:solidFill>
                <a:latin typeface="Plus Jakarta Sans"/>
              </a:rPr>
              <a:t>41 </a:t>
            </a:r>
            <a:r>
              <a:rPr lang="en-US" sz="2800" b="1" i="0" u="none" dirty="0">
                <a:solidFill>
                  <a:srgbClr val="1D4ED8"/>
                </a:solidFill>
                <a:latin typeface="Plus Jakarta Sans"/>
              </a:rPr>
              <a:t>.5</a:t>
            </a:r>
            <a:r>
              <a:rPr sz="2800" b="1" i="0" u="none" dirty="0">
                <a:solidFill>
                  <a:srgbClr val="1D4ED8"/>
                </a:solidFill>
                <a:latin typeface="Plus Jakarta Sans"/>
              </a:rPr>
              <a:t>Cr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F2FEBF-54C7-D876-1007-15C7FB2A2A5B}"/>
              </a:ext>
            </a:extLst>
          </p:cNvPr>
          <p:cNvSpPr txBox="1"/>
          <p:nvPr/>
        </p:nvSpPr>
        <p:spPr>
          <a:xfrm>
            <a:off x="6434351" y="5786284"/>
            <a:ext cx="483760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64748B"/>
                </a:solidFill>
                <a:latin typeface="Plus Jakarta Sans"/>
              </a:rPr>
              <a:t>Strong focus on home appliances and family gifting.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64DC8B-8A24-ABC3-6573-378E13AD7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5" y="1770931"/>
            <a:ext cx="5630779" cy="508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9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8DB917-687D-AEAC-AF52-E1AD03A7CA1A}"/>
              </a:ext>
            </a:extLst>
          </p:cNvPr>
          <p:cNvSpPr txBox="1"/>
          <p:nvPr/>
        </p:nvSpPr>
        <p:spPr>
          <a:xfrm>
            <a:off x="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Distribution by Marital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1C148-89BB-81A9-A30F-77267C2FB726}"/>
              </a:ext>
            </a:extLst>
          </p:cNvPr>
          <p:cNvSpPr txBox="1"/>
          <p:nvPr/>
        </p:nvSpPr>
        <p:spPr>
          <a:xfrm>
            <a:off x="0" y="523220"/>
            <a:ext cx="7411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Unmarried Customers Lead Order Volume with a 58% Market Share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90EC9-B8C7-CD69-D230-7C848EC18FA2}"/>
              </a:ext>
            </a:extLst>
          </p:cNvPr>
          <p:cNvSpPr/>
          <p:nvPr/>
        </p:nvSpPr>
        <p:spPr>
          <a:xfrm>
            <a:off x="192506" y="2221992"/>
            <a:ext cx="6192253" cy="3637386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2000" b="1" dirty="0">
                <a:solidFill>
                  <a:schemeClr val="tx1"/>
                </a:solidFill>
              </a:rPr>
              <a:t>Leading Segment:</a:t>
            </a:r>
            <a:r>
              <a:rPr lang="en-IN" sz="2000" dirty="0">
                <a:solidFill>
                  <a:schemeClr val="tx1"/>
                </a:solidFill>
              </a:rPr>
              <a:t> </a:t>
            </a:r>
            <a:r>
              <a:rPr lang="en-IN" sz="2000" b="1" dirty="0">
                <a:solidFill>
                  <a:schemeClr val="tx1"/>
                </a:solidFill>
              </a:rPr>
              <a:t>Unmarried</a:t>
            </a:r>
            <a:r>
              <a:rPr lang="en-IN" sz="2000" dirty="0">
                <a:solidFill>
                  <a:schemeClr val="tx1"/>
                </a:solidFill>
              </a:rPr>
              <a:t> (Single) customers generate higher total order volume and sales revenue.</a:t>
            </a:r>
          </a:p>
          <a:p>
            <a:pPr lvl="0"/>
            <a:endParaRPr lang="en-IN" sz="2000" dirty="0">
              <a:solidFill>
                <a:schemeClr val="tx1"/>
              </a:solidFill>
            </a:endParaRPr>
          </a:p>
          <a:p>
            <a:pPr lvl="0"/>
            <a:r>
              <a:rPr lang="en-IN" sz="2000" b="1" dirty="0">
                <a:solidFill>
                  <a:schemeClr val="tx1"/>
                </a:solidFill>
              </a:rPr>
              <a:t>Breakdown:</a:t>
            </a:r>
            <a:r>
              <a:rPr lang="en-IN" sz="2000" dirty="0">
                <a:solidFill>
                  <a:schemeClr val="tx1"/>
                </a:solidFill>
              </a:rPr>
              <a:t> 58% Unmarried vs 41% Married.</a:t>
            </a:r>
          </a:p>
          <a:p>
            <a:pPr lvl="0"/>
            <a:endParaRPr lang="en-IN" sz="2000" dirty="0">
              <a:solidFill>
                <a:schemeClr val="tx1"/>
              </a:solidFill>
            </a:endParaRPr>
          </a:p>
          <a:p>
            <a:pPr lvl="0"/>
            <a:r>
              <a:rPr lang="en-IN" sz="2000" b="1" dirty="0">
                <a:solidFill>
                  <a:schemeClr val="tx1"/>
                </a:solidFill>
              </a:rPr>
              <a:t>Target Insight:</a:t>
            </a:r>
            <a:r>
              <a:rPr lang="en-IN" sz="2000" dirty="0">
                <a:solidFill>
                  <a:schemeClr val="tx1"/>
                </a:solidFill>
              </a:rPr>
              <a:t> Unmarried individuals, particularly in the 26–35 age group, represent the largest portion of active buyers.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7B4B9B-6D6B-F51D-C0FD-18DB9F48F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759" y="1283368"/>
            <a:ext cx="5807242" cy="557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0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445318-1067-488A-24F4-2A242D0FA9E0}"/>
              </a:ext>
            </a:extLst>
          </p:cNvPr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Regional performance | State revenue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94F3F-D9C2-04F1-A3BE-BB880B6E8526}"/>
              </a:ext>
            </a:extLst>
          </p:cNvPr>
          <p:cNvSpPr txBox="1"/>
          <p:nvPr/>
        </p:nvSpPr>
        <p:spPr>
          <a:xfrm>
            <a:off x="530352" y="83210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085"/>
                </a:solidFill>
                <a:latin typeface="Aptos"/>
              </a:defRPr>
            </a:pPr>
            <a:r>
              <a:t>Uttar Pradesh leads the state-level revenue ranking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4BD3-C1FB-C700-9CD1-56A0939C335D}"/>
              </a:ext>
            </a:extLst>
          </p:cNvPr>
          <p:cNvSpPr/>
          <p:nvPr/>
        </p:nvSpPr>
        <p:spPr>
          <a:xfrm>
            <a:off x="530352" y="1170432"/>
            <a:ext cx="777240" cy="54864"/>
          </a:xfrm>
          <a:prstGeom prst="rect">
            <a:avLst/>
          </a:prstGeom>
          <a:solidFill>
            <a:srgbClr val="1F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CE910E-8B5A-DDF0-52DE-86DBE7ACA492}"/>
              </a:ext>
            </a:extLst>
          </p:cNvPr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DIWALI SALES ANALYTICS  •  PYTHON / PANDAS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52B0E-A71A-54C8-3BA3-1B6EEB1061D0}"/>
              </a:ext>
            </a:extLst>
          </p:cNvPr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C17F77A6-153B-D3A7-3CBF-56C56BFCEAA9}"/>
              </a:ext>
            </a:extLst>
          </p:cNvPr>
          <p:cNvSpPr/>
          <p:nvPr/>
        </p:nvSpPr>
        <p:spPr>
          <a:xfrm>
            <a:off x="7101853" y="1380744"/>
            <a:ext cx="4450388" cy="5129784"/>
          </a:xfrm>
          <a:prstGeom prst="roundRect">
            <a:avLst/>
          </a:prstGeom>
          <a:solidFill>
            <a:srgbClr val="EFF4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CD2BA-4A83-2C52-7A0C-385B36DF58A8}"/>
              </a:ext>
            </a:extLst>
          </p:cNvPr>
          <p:cNvSpPr txBox="1"/>
          <p:nvPr/>
        </p:nvSpPr>
        <p:spPr>
          <a:xfrm>
            <a:off x="7955279" y="16184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82D4C"/>
                </a:solidFill>
                <a:latin typeface="Aptos"/>
              </a:defRPr>
            </a:pPr>
            <a:r>
              <a:rPr dirty="0"/>
              <a:t>Interpretation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E83D19-4679-E839-DB41-889C89CEFC1F}"/>
              </a:ext>
            </a:extLst>
          </p:cNvPr>
          <p:cNvSpPr txBox="1"/>
          <p:nvPr/>
        </p:nvSpPr>
        <p:spPr>
          <a:xfrm>
            <a:off x="7583665" y="2292679"/>
            <a:ext cx="384048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rgbClr val="1D2939"/>
                </a:solidFill>
                <a:latin typeface="Aptos"/>
              </a:defRPr>
            </a:pPr>
            <a:r>
              <a:rPr sz="2000" dirty="0"/>
              <a:t>Top state: Uttar Pradesh.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rgbClr val="1D2939"/>
                </a:solidFill>
                <a:latin typeface="Aptos"/>
              </a:defRPr>
            </a:pPr>
            <a:r>
              <a:rPr sz="2000" dirty="0"/>
              <a:t>Revenue from Uttar Pradesh: ₹1.94 Cr.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rgbClr val="1D2939"/>
                </a:solidFill>
                <a:latin typeface="Aptos"/>
              </a:defRPr>
            </a:pPr>
            <a:r>
              <a:rPr sz="2000" dirty="0"/>
              <a:t>The top 10 states chart helps prioritize regional campaign planning.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rgbClr val="1D2939"/>
                </a:solidFill>
                <a:latin typeface="Aptos"/>
              </a:defRPr>
            </a:pPr>
            <a:r>
              <a:rPr sz="2000" dirty="0"/>
              <a:t>Business implication: compare revenue with order volume, population / reach and marketing investment before allocating budget.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A1D7D12-D2C1-D548-E30F-0BB640DA4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7" y="1380744"/>
            <a:ext cx="6632139" cy="54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86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040D525E-A090-F8F3-CC74-DFF9EB0260C1}"/>
              </a:ext>
            </a:extLst>
          </p:cNvPr>
          <p:cNvSpPr/>
          <p:nvPr/>
        </p:nvSpPr>
        <p:spPr>
          <a:xfrm>
            <a:off x="7726679" y="1417320"/>
            <a:ext cx="3886200" cy="4507992"/>
          </a:xfrm>
          <a:prstGeom prst="roundRect">
            <a:avLst/>
          </a:prstGeom>
          <a:solidFill>
            <a:srgbClr val="EFF4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C4E7B-8D8C-14BD-52DF-84A09B315572}"/>
              </a:ext>
            </a:extLst>
          </p:cNvPr>
          <p:cNvSpPr txBox="1"/>
          <p:nvPr/>
        </p:nvSpPr>
        <p:spPr>
          <a:xfrm>
            <a:off x="7955279" y="16184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82D4C"/>
                </a:solidFill>
                <a:latin typeface="Aptos"/>
              </a:defRPr>
            </a:pPr>
            <a:r>
              <a:rPr dirty="0"/>
              <a:t>Interpretation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60429D-6983-2AD0-334B-5B7385E03294}"/>
              </a:ext>
            </a:extLst>
          </p:cNvPr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A"/>
                </a:solidFill>
                <a:latin typeface="Aptos"/>
              </a:defRPr>
            </a:pPr>
            <a:r>
              <a:t>Regional opportunity | Orders vs revenue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9EEC3-4BFB-C3FB-A812-FB16570DF33A}"/>
              </a:ext>
            </a:extLst>
          </p:cNvPr>
          <p:cNvSpPr txBox="1"/>
          <p:nvPr/>
        </p:nvSpPr>
        <p:spPr>
          <a:xfrm>
            <a:off x="530352" y="83210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085"/>
                </a:solidFill>
                <a:latin typeface="Aptos"/>
              </a:defRPr>
            </a:pPr>
            <a:r>
              <a:t>Look for states with strong order volume but comparatively lower revenue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CA066C-1134-D31A-97CA-B75E2D314B30}"/>
              </a:ext>
            </a:extLst>
          </p:cNvPr>
          <p:cNvSpPr/>
          <p:nvPr/>
        </p:nvSpPr>
        <p:spPr>
          <a:xfrm>
            <a:off x="530352" y="1170432"/>
            <a:ext cx="777240" cy="54864"/>
          </a:xfrm>
          <a:prstGeom prst="rect">
            <a:avLst/>
          </a:prstGeom>
          <a:solidFill>
            <a:srgbClr val="1F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FBAF64-DF3E-7424-31B7-CFF123AD77ED}"/>
              </a:ext>
            </a:extLst>
          </p:cNvPr>
          <p:cNvSpPr txBox="1"/>
          <p:nvPr/>
        </p:nvSpPr>
        <p:spPr>
          <a:xfrm>
            <a:off x="7845552" y="1971023"/>
            <a:ext cx="356616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300">
                <a:solidFill>
                  <a:srgbClr val="1D2939"/>
                </a:solidFill>
                <a:latin typeface="Aptos"/>
              </a:defRPr>
            </a:pPr>
            <a:r>
              <a:rPr sz="1600" dirty="0"/>
              <a:t>Each point represents a state; points farther right have more orders and points higher up have more revenue.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300">
                <a:solidFill>
                  <a:srgbClr val="1D2939"/>
                </a:solidFill>
                <a:latin typeface="Aptos"/>
              </a:defRPr>
            </a:pPr>
            <a:r>
              <a:rPr sz="1600" dirty="0"/>
              <a:t>A large order count with lower-than-expected revenue can signal lower average order value.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300">
                <a:solidFill>
                  <a:srgbClr val="1D2939"/>
                </a:solidFill>
                <a:latin typeface="Aptos"/>
              </a:defRPr>
            </a:pPr>
            <a:r>
              <a:rPr sz="1600" dirty="0"/>
              <a:t>States flagged by the rank comparison: Kerala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300">
                <a:solidFill>
                  <a:srgbClr val="1D2939"/>
                </a:solidFill>
                <a:latin typeface="Aptos"/>
              </a:defRPr>
            </a:pPr>
            <a:r>
              <a:rPr sz="1600" dirty="0"/>
              <a:t>Follow-up: investigate category mix, discounts, product mix and order value in flagged states.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6A4616-6ECB-47A4-F6C9-8D2E03133BD1}"/>
              </a:ext>
            </a:extLst>
          </p:cNvPr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DIWALI SALES ANALYTICS  •  PYTHON / PANDAS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0D3FF2-BB1B-4418-AEE0-86810FF1EE9F}"/>
              </a:ext>
            </a:extLst>
          </p:cNvPr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2EF2E7-67DF-C966-822A-2B193BFBB8E1}"/>
              </a:ext>
            </a:extLst>
          </p:cNvPr>
          <p:cNvSpPr txBox="1"/>
          <p:nvPr/>
        </p:nvSpPr>
        <p:spPr>
          <a:xfrm>
            <a:off x="3048000" y="3252343"/>
            <a:ext cx="6096000" cy="42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871"/>
              </a:spcAft>
            </a:pPr>
            <a:endParaRPr lang="en-IN" sz="2177" b="0" i="0" dirty="0">
              <a:effectLst/>
              <a:latin typeface="system-u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BAD575E-AE2F-A87C-5601-F636846F4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0520"/>
            <a:ext cx="7229981" cy="51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76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CAB514F3-8A3A-CD65-5BE9-1F34F32FB287}"/>
              </a:ext>
            </a:extLst>
          </p:cNvPr>
          <p:cNvSpPr/>
          <p:nvPr/>
        </p:nvSpPr>
        <p:spPr>
          <a:xfrm>
            <a:off x="6527322" y="2338389"/>
            <a:ext cx="5055078" cy="2028824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B0561E3D-9D0C-6326-DD6F-0CC35C46DE96}"/>
              </a:ext>
            </a:extLst>
          </p:cNvPr>
          <p:cNvSpPr/>
          <p:nvPr/>
        </p:nvSpPr>
        <p:spPr>
          <a:xfrm>
            <a:off x="6404898" y="4574143"/>
            <a:ext cx="5055078" cy="2028824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CE2778-6FF4-58CD-A80B-9F8B1C610640}"/>
              </a:ext>
            </a:extLst>
          </p:cNvPr>
          <p:cNvSpPr txBox="1"/>
          <p:nvPr/>
        </p:nvSpPr>
        <p:spPr>
          <a:xfrm>
            <a:off x="112295" y="188119"/>
            <a:ext cx="342754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latin typeface="Plus Jakarta Sans"/>
              </a:rPr>
              <a:t>Regional Sales Comparison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CB11C7-015E-3AF0-2F75-3CF7287A5434}"/>
              </a:ext>
            </a:extLst>
          </p:cNvPr>
          <p:cNvSpPr txBox="1"/>
          <p:nvPr/>
        </p:nvSpPr>
        <p:spPr>
          <a:xfrm>
            <a:off x="112295" y="569119"/>
            <a:ext cx="641502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64748B"/>
                </a:solidFill>
                <a:latin typeface="Plus Jakarta Sans"/>
              </a:rPr>
              <a:t>Central and Southern zones lead in overall revenue generated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BBBB33-C6DF-8DA5-416B-0067DD8ACF9A}"/>
              </a:ext>
            </a:extLst>
          </p:cNvPr>
          <p:cNvSpPr txBox="1"/>
          <p:nvPr/>
        </p:nvSpPr>
        <p:spPr>
          <a:xfrm>
            <a:off x="7043738" y="2707778"/>
            <a:ext cx="267919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E3A8A"/>
                </a:solidFill>
                <a:latin typeface="Plus Jakarta Sans"/>
              </a:rPr>
              <a:t>Top Performing 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A8D84-C37D-B3D1-621C-77829F378A77}"/>
              </a:ext>
            </a:extLst>
          </p:cNvPr>
          <p:cNvSpPr txBox="1"/>
          <p:nvPr/>
        </p:nvSpPr>
        <p:spPr>
          <a:xfrm>
            <a:off x="7043738" y="3284040"/>
            <a:ext cx="378618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Uttar Pradesh leads national totals with ₹1.94 Cr revenue.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1F21E-06F1-1750-FAE3-1DDAC700A374}"/>
              </a:ext>
            </a:extLst>
          </p:cNvPr>
          <p:cNvSpPr txBox="1"/>
          <p:nvPr/>
        </p:nvSpPr>
        <p:spPr>
          <a:xfrm>
            <a:off x="6964780" y="4723269"/>
            <a:ext cx="255820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E3A8A"/>
                </a:solidFill>
                <a:latin typeface="Plus Jakarta Sans"/>
              </a:rPr>
              <a:t>Highest Order 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36970F-72A8-4A39-7F08-BAE50A6685EE}"/>
              </a:ext>
            </a:extLst>
          </p:cNvPr>
          <p:cNvSpPr txBox="1"/>
          <p:nvPr/>
        </p:nvSpPr>
        <p:spPr>
          <a:xfrm>
            <a:off x="6964780" y="5274708"/>
            <a:ext cx="3786187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Southern Zone exhibits highest average spending per basket.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7AC1AF7-AB3B-770C-4CAA-439442B6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9411"/>
            <a:ext cx="6212305" cy="55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18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93B7CF-0DB5-31EC-B07F-56E98BE82E58}"/>
              </a:ext>
            </a:extLst>
          </p:cNvPr>
          <p:cNvSpPr txBox="1"/>
          <p:nvPr/>
        </p:nvSpPr>
        <p:spPr>
          <a:xfrm>
            <a:off x="0" y="0"/>
            <a:ext cx="7527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 (AOV) Analysis by Regional Zone</a:t>
            </a: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B5F645DE-A92D-B26E-181B-65B9716FB29C}"/>
              </a:ext>
            </a:extLst>
          </p:cNvPr>
          <p:cNvSpPr/>
          <p:nvPr/>
        </p:nvSpPr>
        <p:spPr>
          <a:xfrm>
            <a:off x="6944307" y="1380744"/>
            <a:ext cx="5071230" cy="4471416"/>
          </a:xfrm>
          <a:prstGeom prst="roundRect">
            <a:avLst/>
          </a:prstGeom>
          <a:solidFill>
            <a:srgbClr val="EFF4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600" b="1" dirty="0">
                <a:solidFill>
                  <a:schemeClr val="tx1"/>
                </a:solidFill>
              </a:rPr>
              <a:t>Overall Benchmark:</a:t>
            </a:r>
            <a:r>
              <a:rPr lang="en-IN" sz="1600" dirty="0">
                <a:solidFill>
                  <a:schemeClr val="tx1"/>
                </a:solidFill>
              </a:rPr>
              <a:t> The dataset average transaction value sits around </a:t>
            </a:r>
            <a:r>
              <a:rPr lang="en-IN" sz="1600" b="1" dirty="0">
                <a:solidFill>
                  <a:schemeClr val="tx1"/>
                </a:solidFill>
              </a:rPr>
              <a:t>₹9,453</a:t>
            </a:r>
            <a:r>
              <a:rPr lang="en-IN" sz="1600" dirty="0">
                <a:solidFill>
                  <a:schemeClr val="tx1"/>
                </a:solidFill>
              </a:rPr>
              <a:t> (with a median of </a:t>
            </a:r>
            <a:r>
              <a:rPr lang="en-IN" sz="1600" b="1" dirty="0">
                <a:solidFill>
                  <a:schemeClr val="tx1"/>
                </a:solidFill>
              </a:rPr>
              <a:t>₹8,109</a:t>
            </a:r>
            <a:r>
              <a:rPr lang="en-IN" sz="1600" dirty="0">
                <a:solidFill>
                  <a:schemeClr val="tx1"/>
                </a:solidFill>
              </a:rPr>
              <a:t>).</a:t>
            </a:r>
          </a:p>
          <a:p>
            <a:pPr lvl="0"/>
            <a:endParaRPr lang="en-IN" sz="1600" dirty="0">
              <a:solidFill>
                <a:schemeClr val="tx1"/>
              </a:solidFill>
            </a:endParaRPr>
          </a:p>
          <a:p>
            <a:pPr lvl="0"/>
            <a:r>
              <a:rPr lang="en-IN" sz="1600" b="1" dirty="0">
                <a:solidFill>
                  <a:schemeClr val="tx1"/>
                </a:solidFill>
              </a:rPr>
              <a:t>Top Revenue Zone:</a:t>
            </a:r>
            <a:r>
              <a:rPr lang="en-IN" sz="1600" dirty="0">
                <a:solidFill>
                  <a:schemeClr val="tx1"/>
                </a:solidFill>
              </a:rPr>
              <a:t> The </a:t>
            </a:r>
            <a:r>
              <a:rPr lang="en-IN" sz="1600" b="1" dirty="0">
                <a:solidFill>
                  <a:schemeClr val="tx1"/>
                </a:solidFill>
              </a:rPr>
              <a:t>Central Zone</a:t>
            </a:r>
            <a:r>
              <a:rPr lang="en-IN" sz="1600" dirty="0">
                <a:solidFill>
                  <a:schemeClr val="tx1"/>
                </a:solidFill>
              </a:rPr>
              <a:t> leads in total aggregate sales volume and order count.</a:t>
            </a:r>
          </a:p>
          <a:p>
            <a:pPr lvl="0"/>
            <a:endParaRPr lang="en-IN" sz="1600" dirty="0">
              <a:solidFill>
                <a:schemeClr val="tx1"/>
              </a:solidFill>
            </a:endParaRPr>
          </a:p>
          <a:p>
            <a:pPr lvl="0"/>
            <a:r>
              <a:rPr lang="en-IN" sz="1600" b="1" dirty="0">
                <a:solidFill>
                  <a:schemeClr val="tx1"/>
                </a:solidFill>
              </a:rPr>
              <a:t>Regional Variations:</a:t>
            </a:r>
            <a:r>
              <a:rPr lang="en-IN" sz="1600" dirty="0">
                <a:solidFill>
                  <a:schemeClr val="tx1"/>
                </a:solidFill>
              </a:rPr>
              <a:t> While high-volume zones like Central and Southern drive maximum transactions, average order values (basket sizes) vary across zones depending on preferred product categories (e.g., higher-ticket items versus everyday essentials).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159B7-E307-EEB8-E84D-FE09912E5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744"/>
            <a:ext cx="6753726" cy="54772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74774F-63A5-CB91-3B2C-A36915FAD62A}"/>
              </a:ext>
            </a:extLst>
          </p:cNvPr>
          <p:cNvSpPr txBox="1"/>
          <p:nvPr/>
        </p:nvSpPr>
        <p:spPr>
          <a:xfrm>
            <a:off x="303463" y="461665"/>
            <a:ext cx="614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Central Zone Leads Overall </a:t>
            </a:r>
            <a:r>
              <a:rPr lang="en-IN" b="1" dirty="0" err="1"/>
              <a:t>SaleRevenues</a:t>
            </a:r>
            <a:r>
              <a:rPr lang="en-IN" b="1" dirty="0"/>
              <a:t> with Strong Average Basket Sizes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152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DA7610-1A46-0065-343A-8A335E6107A4}"/>
              </a:ext>
            </a:extLst>
          </p:cNvPr>
          <p:cNvSpPr txBox="1"/>
          <p:nvPr/>
        </p:nvSpPr>
        <p:spPr>
          <a:xfrm>
            <a:off x="0" y="64413"/>
            <a:ext cx="5373202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 Sector Spending Chart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E7D8E-6AEF-1593-F28F-6DB22350F971}"/>
              </a:ext>
            </a:extLst>
          </p:cNvPr>
          <p:cNvSpPr txBox="1"/>
          <p:nvPr/>
        </p:nvSpPr>
        <p:spPr>
          <a:xfrm>
            <a:off x="0" y="559713"/>
            <a:ext cx="661969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64748B"/>
                </a:solidFill>
                <a:latin typeface="Plus Jakarta Sans"/>
              </a:rPr>
              <a:t>IT</a:t>
            </a:r>
            <a:r>
              <a:rPr sz="20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2000" b="0" i="0" u="none" dirty="0">
                <a:latin typeface="Plus Jakarta Sans"/>
              </a:rPr>
              <a:t>Sector and Healthcare professionals drive highest total spend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6E7C75-C5C0-18C7-B15B-332BFC628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907"/>
            <a:ext cx="12192000" cy="530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4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7A1D4F-2349-6B99-CB2F-E7A889F8231F}"/>
              </a:ext>
            </a:extLst>
          </p:cNvPr>
          <p:cNvSpPr txBox="1"/>
          <p:nvPr/>
        </p:nvSpPr>
        <p:spPr>
          <a:xfrm>
            <a:off x="0" y="846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Product Categories by Revenue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0E56784E-454F-220F-061A-0B08E79020DC}"/>
              </a:ext>
            </a:extLst>
          </p:cNvPr>
          <p:cNvSpPr/>
          <p:nvPr/>
        </p:nvSpPr>
        <p:spPr>
          <a:xfrm>
            <a:off x="6859640" y="1636776"/>
            <a:ext cx="5071230" cy="4407408"/>
          </a:xfrm>
          <a:prstGeom prst="roundRect">
            <a:avLst/>
          </a:prstGeom>
          <a:solidFill>
            <a:srgbClr val="EFF4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2000" b="1" dirty="0">
                <a:solidFill>
                  <a:schemeClr val="tx1"/>
                </a:solidFill>
              </a:rPr>
              <a:t>Top Revenue Drivers:</a:t>
            </a:r>
            <a:r>
              <a:rPr lang="en-IN" sz="2000" dirty="0">
                <a:solidFill>
                  <a:schemeClr val="tx1"/>
                </a:solidFill>
              </a:rPr>
              <a:t> </a:t>
            </a:r>
            <a:r>
              <a:rPr lang="en-IN" sz="2000" b="1" dirty="0">
                <a:solidFill>
                  <a:schemeClr val="tx1"/>
                </a:solidFill>
              </a:rPr>
              <a:t>Clothing &amp; Apparel</a:t>
            </a:r>
            <a:r>
              <a:rPr lang="en-IN" sz="2000" dirty="0">
                <a:solidFill>
                  <a:schemeClr val="tx1"/>
                </a:solidFill>
              </a:rPr>
              <a:t>, </a:t>
            </a:r>
            <a:r>
              <a:rPr lang="en-IN" sz="2000" b="1" dirty="0">
                <a:solidFill>
                  <a:schemeClr val="tx1"/>
                </a:solidFill>
              </a:rPr>
              <a:t>Food</a:t>
            </a:r>
            <a:r>
              <a:rPr lang="en-IN" sz="2000" dirty="0">
                <a:solidFill>
                  <a:schemeClr val="tx1"/>
                </a:solidFill>
              </a:rPr>
              <a:t>, and </a:t>
            </a:r>
            <a:r>
              <a:rPr lang="en-IN" sz="2000" b="1" dirty="0">
                <a:solidFill>
                  <a:schemeClr val="tx1"/>
                </a:solidFill>
              </a:rPr>
              <a:t>Electronics &amp; Gadgets</a:t>
            </a:r>
            <a:r>
              <a:rPr lang="en-IN" sz="2000" dirty="0">
                <a:solidFill>
                  <a:schemeClr val="tx1"/>
                </a:solidFill>
              </a:rPr>
              <a:t> account for the largest share of total sales.</a:t>
            </a:r>
          </a:p>
          <a:p>
            <a:pPr lvl="0"/>
            <a:endParaRPr lang="en-IN" sz="2000" dirty="0">
              <a:solidFill>
                <a:schemeClr val="tx1"/>
              </a:solidFill>
            </a:endParaRPr>
          </a:p>
          <a:p>
            <a:pPr lvl="0"/>
            <a:endParaRPr lang="en-IN" sz="2000" dirty="0">
              <a:solidFill>
                <a:schemeClr val="tx1"/>
              </a:solidFill>
            </a:endParaRPr>
          </a:p>
          <a:p>
            <a:pPr lvl="0"/>
            <a:r>
              <a:rPr lang="en-IN" sz="2000" b="1" dirty="0">
                <a:solidFill>
                  <a:schemeClr val="tx1"/>
                </a:solidFill>
              </a:rPr>
              <a:t>Lower Contributing Categories:</a:t>
            </a:r>
            <a:r>
              <a:rPr lang="en-IN" sz="2000" dirty="0">
                <a:solidFill>
                  <a:schemeClr val="tx1"/>
                </a:solidFill>
              </a:rPr>
              <a:t> Categories such as Beauty and Stationery generate comparatively lower revenue volumes during the festive cycle.</a:t>
            </a:r>
          </a:p>
          <a:p>
            <a:pPr lvl="0"/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ED21BF-59BE-EA50-CB31-BFE272CE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6" y="1126744"/>
            <a:ext cx="6553908" cy="57038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CF4CC-52F8-53F0-6433-6EABFE40F5FE}"/>
              </a:ext>
            </a:extLst>
          </p:cNvPr>
          <p:cNvSpPr txBox="1"/>
          <p:nvPr/>
        </p:nvSpPr>
        <p:spPr>
          <a:xfrm>
            <a:off x="193396" y="408577"/>
            <a:ext cx="6129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Clothing &amp; Apparel and Food Dominate Total Festive Sales Revenue</a:t>
            </a:r>
          </a:p>
        </p:txBody>
      </p:sp>
    </p:spTree>
    <p:extLst>
      <p:ext uri="{BB962C8B-B14F-4D97-AF65-F5344CB8AC3E}">
        <p14:creationId xmlns:p14="http://schemas.microsoft.com/office/powerpoint/2010/main" val="2197132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B70BC4-5E09-C7C3-9339-038521D3BA6A}"/>
              </a:ext>
            </a:extLst>
          </p:cNvPr>
          <p:cNvSpPr txBox="1"/>
          <p:nvPr/>
        </p:nvSpPr>
        <p:spPr>
          <a:xfrm>
            <a:off x="152400" y="0"/>
            <a:ext cx="397525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 Revenue Leaders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D265A-5DC5-1D4B-075E-61A3F3DCF09D}"/>
              </a:ext>
            </a:extLst>
          </p:cNvPr>
          <p:cNvSpPr txBox="1"/>
          <p:nvPr/>
        </p:nvSpPr>
        <p:spPr>
          <a:xfrm>
            <a:off x="152400" y="499534"/>
            <a:ext cx="608859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0" i="0" u="none" dirty="0">
                <a:latin typeface="Plus Jakarta Sans"/>
              </a:rPr>
              <a:t>Comparison graph of top 5 highest grossing SKUs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CF50BE-4EDC-BFE7-1DDF-69AE6C78A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02508"/>
            <a:ext cx="12192000" cy="555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29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90000"/>
                <a:lumOff val="10000"/>
              </a:schemeClr>
            </a:gs>
            <a:gs pos="67000">
              <a:schemeClr val="tx2">
                <a:lumMod val="75000"/>
                <a:lumOff val="25000"/>
              </a:schemeClr>
            </a:gs>
            <a:gs pos="83000">
              <a:schemeClr val="tx2">
                <a:lumMod val="50000"/>
                <a:lumOff val="50000"/>
              </a:schemeClr>
            </a:gs>
            <a:gs pos="100000">
              <a:schemeClr val="tx2">
                <a:lumMod val="25000"/>
                <a:lumOff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EE3B856A-A8D1-3254-C027-22CFACDE41C9}"/>
              </a:ext>
            </a:extLst>
          </p:cNvPr>
          <p:cNvSpPr txBox="1"/>
          <p:nvPr/>
        </p:nvSpPr>
        <p:spPr>
          <a:xfrm>
            <a:off x="640080" y="376351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THANK YOU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9D4C8A-184D-B3F8-0557-5664F8F25548}"/>
              </a:ext>
            </a:extLst>
          </p:cNvPr>
          <p:cNvSpPr txBox="1"/>
          <p:nvPr/>
        </p:nvSpPr>
        <p:spPr>
          <a:xfrm>
            <a:off x="640080" y="149900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9D8E8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 takeaway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D7B188-7EFC-334A-F8C7-4F918313465A}"/>
              </a:ext>
            </a:extLst>
          </p:cNvPr>
          <p:cNvSpPr txBox="1"/>
          <p:nvPr/>
        </p:nvSpPr>
        <p:spPr>
          <a:xfrm>
            <a:off x="1234440" y="2341086"/>
            <a:ext cx="9509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ptos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Revenue is concentrated among F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emale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customers, the 26-35 age group, the Central zone and the Food category.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3D5F9A-E59C-8B5F-E469-D81472902931}"/>
              </a:ext>
            </a:extLst>
          </p:cNvPr>
          <p:cNvSpPr txBox="1"/>
          <p:nvPr/>
        </p:nvSpPr>
        <p:spPr>
          <a:xfrm>
            <a:off x="1005840" y="4069081"/>
            <a:ext cx="9966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9E4EF"/>
                </a:solidFill>
                <a:latin typeface="Aptos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Dataset notes: 11,251 rows • 3,755 distinct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User_IDs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• 12 missing Amount values excluded from revenue totals.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C2FBF4-58F5-C4B2-B369-3707EB3C346E}"/>
              </a:ext>
            </a:extLst>
          </p:cNvPr>
          <p:cNvSpPr txBox="1"/>
          <p:nvPr/>
        </p:nvSpPr>
        <p:spPr>
          <a:xfrm>
            <a:off x="731520" y="5065556"/>
            <a:ext cx="10332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9E4EF"/>
                </a:solidFill>
                <a:latin typeface="Aptos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Prepared using the provided notebook and CSV. The notebook's local MySQL connection credentials were not included in this report.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9DA565-46FB-1D05-F105-FCA007AA82AD}"/>
              </a:ext>
            </a:extLst>
          </p:cNvPr>
          <p:cNvSpPr/>
          <p:nvPr/>
        </p:nvSpPr>
        <p:spPr>
          <a:xfrm>
            <a:off x="6841067" y="6199503"/>
            <a:ext cx="5164666" cy="3657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TURNING DATA INTO DECISIONS</a:t>
            </a:r>
          </a:p>
          <a:p>
            <a:pPr algn="r"/>
            <a:r>
              <a:rPr lang="en-IN" sz="20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Diwali Sales Analytics Report · sourabh </a:t>
            </a:r>
            <a:r>
              <a:rPr lang="en-IN" sz="2000" b="1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gawade</a:t>
            </a:r>
            <a:endParaRPr lang="en-IN" sz="20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468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1005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Plus Jakarta Sans</vt:lpstr>
      <vt:lpstr>system-ui</vt:lpstr>
      <vt:lpstr>Times New Roman</vt:lpstr>
      <vt:lpstr>Office Theme</vt:lpstr>
      <vt:lpstr> Python &amp; Pandas Analytics Report Diwali Sales, Customer &amp; Revenue Analytics Customer segments  • Regional performance   • Product demand  • Commercial opportunities  </vt:lpstr>
      <vt:lpstr>Executive Sales Summary </vt:lpstr>
      <vt:lpstr>PowerPoint Presentation</vt:lpstr>
      <vt:lpstr>Female (F): 19,548 orders (accounting for roughly 69.8% of the total order volume) </vt:lpstr>
      <vt:lpstr>Diwali Sales Analysis &amp; Customer Insights</vt:lpstr>
      <vt:lpstr>Customer Age Insights</vt:lpstr>
      <vt:lpstr>Peak Customer Age 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sourabh.gawade2026@outlook.com</dc:creator>
  <cp:lastModifiedBy>sourabh.gawade2026@outlook.com</cp:lastModifiedBy>
  <cp:revision>10</cp:revision>
  <dcterms:created xsi:type="dcterms:W3CDTF">2026-10-11T14:57:56Z</dcterms:created>
  <dcterms:modified xsi:type="dcterms:W3CDTF">2026-10-13T06:35:40Z</dcterms:modified>
</cp:coreProperties>
</file>